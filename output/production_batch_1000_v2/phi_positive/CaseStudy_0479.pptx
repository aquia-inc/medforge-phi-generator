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Clinical Case Study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West Crystal Clinic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Patient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800"/>
            </a:pPr>
            <a:r>
              <a:t>Patient: Alicia Sexton</a:t>
            </a:r>
            <a:br/>
            <a:r>
              <a:t>MRN: MRN146008</a:t>
            </a:r>
            <a:br/>
            <a:r>
              <a:t>DOB: 11/08/1972 (Age: 53)</a:t>
            </a:r>
            <a:br/>
            <a:r>
              <a:t>Contact: 260-323-5359x6828 / suzanne81@example.org</a:t>
            </a:r>
            <a:br/>
            <a:r>
              <a:t>Address: 6316 Montoya Locks, East Shawnfurt, OH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Medical History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600"/>
            </a:pPr>
            <a:r>
              <a:t>Diagnoses:</a:t>
            </a:r>
            <a:br/>
          </a:p>
          <a:p>
            <a:pPr lvl="1">
              <a:defRPr sz="1400"/>
            </a:pPr>
            <a:r>
              <a:t>• Chronic Kidney Disease, Stage 3 (ICD-10: N18.3)</a:t>
            </a:r>
          </a:p>
          <a:p>
            <a:pPr lvl="1">
              <a:defRPr sz="1400"/>
            </a:pPr>
            <a:r>
              <a:t>• Hypothyroidism (ICD-10: E03.9)</a:t>
            </a:r>
          </a:p>
          <a:p>
            <a:br/>
            <a:pPr>
              <a:defRPr b="1" sz="1600"/>
            </a:pPr>
            <a:r>
              <a:t>Current Medications:</a:t>
            </a:r>
          </a:p>
          <a:p>
            <a:pPr lvl="1">
              <a:defRPr sz="1400"/>
            </a:pPr>
            <a:r>
              <a:t>• Gabapentin 300mg three times daily</a:t>
            </a:r>
          </a:p>
          <a:p>
            <a:pPr lvl="1">
              <a:defRPr sz="1400"/>
            </a:pPr>
            <a:r>
              <a:t>• Losartan 50mg daily</a:t>
            </a:r>
          </a:p>
          <a:p>
            <a:pPr lvl="1">
              <a:defRPr sz="1400"/>
            </a:pPr>
            <a:r>
              <a:t>• Atorvastatin 20mg daily</a:t>
            </a:r>
          </a:p>
          <a:p>
            <a:pPr lvl="1">
              <a:defRPr sz="1400"/>
            </a:pPr>
            <a:r>
              <a:t>• Metformin 500mg twice daily</a:t>
            </a:r>
          </a:p>
          <a:p>
            <a:pPr lvl="1">
              <a:defRPr sz="1400"/>
            </a:pPr>
            <a:r>
              <a:t>• Metoprolol 25mg twice daily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Vital Signs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000"/>
            </a:pPr>
            <a:r>
              <a:t>Blood Pressure: 116/71 mmHg</a:t>
            </a:r>
            <a:br/>
            <a:r>
              <a:t>Heart Rate: 76 bpm</a:t>
            </a:r>
            <a:br/>
            <a:r>
              <a:t>Temperature: 97.0°F</a:t>
            </a:r>
            <a:br/>
            <a:r>
              <a:t>Respiratory Rate: 18</a:t>
            </a:r>
            <a:br/>
            <a:r>
              <a:t>O2 Saturation: 95%</a:t>
            </a:r>
            <a:br/>
            <a:r>
              <a:t>Weight: 191 lbs</a:t>
            </a:r>
            <a:br/>
            <a:r>
              <a:t>Height: 74 inches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Clinical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1600"/>
            </a:pPr>
            <a:r>
              <a:t>Patient under care of Hector Rice, DO</a:t>
            </a:r>
            <a:br/>
            <a:r>
              <a:t>Specialty: Family Medicine</a:t>
            </a:r>
            <a:br/>
            <a:br/>
            <a:r>
              <a:t>Primary diagnosis: Chronic Kidney Disease, Stage 3</a:t>
            </a:r>
            <a:br/>
            <a:r>
              <a:t>Management plan includes medication therapy and regular follow-up.</a:t>
            </a:r>
          </a:p>
          <a:p>
            <a:br/>
            <a:br/>
            <a:pPr>
              <a:defRPr sz="1200" i="1">
                <a:solidFill>
                  <a:srgbClr val="FF0000"/>
                </a:solidFill>
              </a:defRPr>
            </a:pPr>
            <a:r>
              <a:t>CONFIDENTIAL: Contains Protected Health Information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